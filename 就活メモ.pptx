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4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65" r:id="rId21"/>
    <p:sldId id="274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B7809D-F1DA-4D7C-B7F1-6DCDD067224F}" v="523" dt="2026-01-27T12:40:21.8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淡色スタイル 1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淡色スタイル 3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29.8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1 8192,'37'0'13375,"0"-1"-8103,121 3-5897,-81 10 625,-54-7 0,40 3 0,2-9 0,-45 0 0,1 1 0,-1 0 0,1 2 0,22 4 0,-17 5 1680,-25-10-1944,0 0 0,0 0 1,-1-1-1,1 1 1,0 0-1,0 0 1,0 0-1,-1 0 1,1 0-1,0 0 1,-1 0-1,1 0 0,-1 1 1,1-1-1,-1 0 1,0 0-1,1 0 1,-1 1-1,0-1 1,0 0-1,0 2 1,0 0-555,-1-1 0,0 1 0,0 0 0,0 0 0,0 0 0,0 0 0,-1-1 1,1 1-1,-1-1 0,0 1 0,0-1 0,0 1 0,0-1 0,0 0 1,0 0-1,-4 3 0,-9 8 818,1-1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1.20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55 0 8192,'-4'15'16578,"-1"-7"-13779,-5 5-3436,-2 2-1507,7-5 3570,1 0-683,1 1 1,0-1-1,0 1 1,-1 17-1,3-17-1804,1 0-1,0 0 1,0 0-1,1 0 0,1 0 1,0 0-1,6 18 1,-5-20-93,0 0-1,1-1 1,1 0 0,-1 1 0,1-1-1,0-1 1,1 1 0,0-1 0,9 8-1,-9-9 912,1-1-1,-1 0 1,2 0-1,-1 0 1,0-1-1,12 5 1,-1-3 243,-1 0 0,1-1 0,0-1 0,34 4 0,72-6 0,-105-2 0,87-1 0,-84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2.80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4 8192,'44'0'11195,"0"-2"-5634,13 1-2828,-12 0-4156,68 9 0,-48 5 2802,-60-12-1519,-1 0 1,1 1-1,-1 0 1,0 0-1,1 0 1,-1 0-1,7 6 1,-7-5-719,-1 0 0,0 0-1,0 1 1,-1-1 0,1 1 0,-1-1-1,0 1 1,0 0 0,0 0 0,0 0-1,0 0 1,0 5 0,4 22-3439,-5 3 4269,-1-11 3647,-2 9 8245,1-9-10749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4.111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0 8192,'-4'0'1353,"1"0"0,-1 1 0,1-1 0,-1 1 0,1 0 0,0 0 0,-7 2 0,7-2-673,1 1 1,-1-1-1,1 1 1,-1 0-1,1 0 1,0-1 0,0 1-1,-3 4 1,2-2-440,0 0 0,1 1 0,-1-1 1,1 1-1,0 0 0,0-1 0,1 1 0,0 0 1,-1 0-1,0 10 0,2-4-743,-1 1-1,1-1 1,1 1 0,0-1-1,4 18 1,11 18 1936,-12-38-1592,1 0 1,0-1 0,0 0 0,1 0 0,0 0-1,1-1 1,-1 0 0,15 12 0,-12-13-1405,-1-1 1,0-1-1,1 1 0,0-1 1,0-1-1,0 1 0,0-2 1,19 4-1,48 6-991,-21-5 2553,68 0 1,70-8-1,-168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5.11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82 0 8192,'-2'13'12401,"-2"-1"-6899,-4 4-3783,-5 8-3857,-1 0 2676,6-5-500,1 0 1,1 0 0,0 1-1,2 0 1,0 0 0,-2 32-1,7 127-1460,2-79-7022,-4-35 199,0 3 7484,1-35 4584,2-1 3492,4-12-1445,6-8-4152,-9-11-1731,0 0 1,0 0-1,0 0 1,0-1 0,0 1-1,1-1 1,-1 1-1,0-1 1,6-1 0,16-1 12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5.802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8192,'9'0'18022,"16"0"-18022,4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6.648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0 8192,'0'5'2714,"0"32"10375,2-11-9541,2-1-3410,-2-20-550,0 1 1,0 0-1,0-1 0,0 0 1,1 1-1,4 6 0,19 17 1827,-19-24-1415,1 1 0,-1-1 0,1 0 0,0-1 0,1 0 0,-1 0 0,1-1 0,0 0 0,0-1 0,0 1 0,0-2 0,10 2 0,16-1 0,66-3 0,-52-1 0,159-1 48,-120 3-2893,-62 0 2286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7.97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8192,'7'0'3764,"48"1"8409,26 4-8673,-64-2-4443,0 0 0,28 9 0,7 11 1861,-18-7-3434,-22-12-424,1 0-1,-1-1 1,1-1 0,21 2 0,-11-3 2631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38.96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171 0 8192,'0'26'12205,"0"7"-5909,-3 13-5865,-9 0-2750,-4-17 3728,-16 16-1409,-62 97 0,81-119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40.1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1 1 8192,'0'45'12901,"2"-1"-7495,1 3-5501,2-1 0,15 63 0,-5-44 95,-4-16 0,31 89 0,-34-115 0,0 0 0,-2 1 0,7 46 0,-12-63 303,0 0 0,1-1 1,0 0-1,0 1 0,1-1 1,-1 0-1,5 7 0,-2-5-1083,1 0-1,0-1 1,0 0-1,1 0 1,-1 0-1,1-1 1,14 9-1,6 2-4042,2-1 0,59 23 1,-39-18 5086,-2-6 1232,26-7 12230,-31-4-8421,-2 3-7810,-22-3 2505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46.96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0 8192,'8'17'16137,"10"-3"-12648,27 4-6456,-37-16 4330,35 12-1363,2-2 0,-1-2 0,2-2 0,62 3 0,187-9 0,-289-3 0,0 1 0,0 0 0,0 1 0,0-1 0,-1 1 0,1 0 0,0 1 0,0-1 0,-1 1 0,1 0 0,8 5 0,-10-4 0,-1 0 0,1 0 0,-1 0 0,0 0 0,0 1 0,0-1 0,-1 1 0,1 0 0,-1 0 0,0 0 0,0 0 0,0 0 0,0 0 0,-1 0 0,2 9 0,0 0 21,-1 0 1,0 0 0,-1 0-1,0 0 1,-1 0 0,-1 0-1,-3 24 1,-3-8-740,-1 0 0,-15 36 0,6-18 2845,13-31-2590,-2 0-1,0 0 0,-1 0 0,0-1 1,-1 0-1,-1 0 0,-14 18 1,-40-4-15443,47-28 18367,-1 0 0,-22-3 1,20 1-47,-7 0-1415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3T02:42:48.196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200 0 8192,'-1'42'13400,"-2"-1"-8136,-11 83-7198,8-73 3226,-21 81-1292,18-94 0,1 0 0,-3 49 0,10-78 0,0 0 0,0-1 0,-1 1 0,0 0 0,-1-1 0,0 0 0,0 0 0,-1 0 0,-4 8 0,-6 6 0,-29 34 0,18-25 0,15-18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6B0B8-B85E-D63B-7DD7-FA3271998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F8E1638-24A8-48D8-8B65-9AB6F1B062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315D66-B82C-28DD-E775-9F4532AA4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32D49C-FCA6-3B90-C7D2-12D316C1C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77C45A9-DF61-6321-0344-AB7A94D5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4061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33FA2C-85CC-6075-F1F6-E681EF517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25DE280-6F2A-4618-E6B0-0392F5A45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848B0F4-65C2-65EF-6A54-0CEBBAAF0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2D1D4B-35C0-080E-20C3-A81EFF87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BB83FC-9488-1EE0-A526-C1DF299CE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9686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B7A963-B38E-3D72-96B9-D11026A85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CD03B9D-8B22-3345-386A-4429CDDC9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079CCD-48B3-2669-C5C8-19049DEFC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A2BA7E6-DC75-81B1-B861-29281990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66C28C5-0166-2ECE-A02F-7D7B9835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377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AB067C-B3DF-FC48-CEE7-222145B43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7225289-79DB-3278-2335-56C151946D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3043A81-0C71-EDB2-771A-31561B09E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F2A57F1-F28E-251B-0218-EAEFF5F2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8B0E768-4D19-8B26-A2E6-BAC3886FF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CB7CBE-D595-3089-2091-086AA75B9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55501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DC3497-1D36-9C79-FBED-694571FF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71584FE-CE01-8FB6-36EB-2C74B1CEA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3061DE-B976-A899-E1D1-BE9ABB2178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B8384A4-FB1B-645E-DDA4-4175A526B1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7E8E74F-ABB5-C4B0-181A-B56C5C2CEE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DD9488B-22E5-B77F-7520-CD4E2A03E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7F798C4-BDD3-89EB-DA20-C6D5C2D38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4030411-5BF4-535B-39FE-68CE49EF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744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5118E6-2A11-125A-50FC-81401F90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DB1F61-19FC-1108-BDC7-BBFE70D4B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21CFCF-E998-A126-DF59-6F2301937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D9D0571-D0A1-202C-0772-26DDFC898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330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F059EB-AB39-7556-5D41-00A08AF12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6F5C953-8EE7-31E0-C21B-EBC420A6C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0392E4-7B26-48BA-0DCC-84E398210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314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5A817E-BD60-EBB2-F192-42E0FD94B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AF6A24-2B92-2A27-14F9-DD3F484E58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B7F1259-41A7-E41A-E998-F6CBE22C18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8EC67C-952F-4F85-7895-F886ADAA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40CC4F-2D7B-13B7-58B8-8E820AAA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DD76C5-3BA1-B401-EDF2-939036AA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434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1FC7FC-47F9-AC71-E550-7C3951F5E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735320-D56C-11CA-4B43-0C9D353373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A369F7-D8CF-7DA3-DC16-00B1FE513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206C04-A647-7C5B-A545-0FDB5737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3F36A3E-DE60-51A2-E58E-070FD1B5A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E1145C7-B909-B2EC-6459-2B4B17B4A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42656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A3F9C1-CDA0-9712-F004-37C1D5CC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DCDB384-8EFD-DF42-866C-1950D8228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5DF8B0-848D-F1F7-B540-2CE2EDDB2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F7F9FE-222C-1161-C549-EA02FABD6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A7C5F9-8DC9-3A9C-6A90-2481C0C3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606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CB0317B-2F3E-7D24-D927-A26F2D1F49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FBC8C8C-43D2-04E9-780C-8139FB7BD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A034DA-4A41-55F8-1E50-ED031A4D7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371B7A-3DBF-569A-968E-82859FA07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BDBA6A-5086-F700-1ED3-92380615F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59895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70CC7720-AF7C-4D0A-D6D1-3168F9CC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C92D8E-AC8D-A731-AEF2-72EC07A91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F835D1-F65F-057C-2AFB-CFE27E1BBA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1/29/2026</a:t>
            </a:fld>
            <a:endParaRPr 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8749D3-C36E-3193-5649-F60BD8256F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6D598B-0D52-9F96-4F66-2ED822F39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08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customXml" Target="../ink/ink6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0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image" Target="../media/image5.png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customXml" Target="../ink/ink5.xml"/><Relationship Id="rId24" Type="http://schemas.openxmlformats.org/officeDocument/2006/relationships/image" Target="../media/image1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9.png"/><Relationship Id="rId19" Type="http://schemas.openxmlformats.org/officeDocument/2006/relationships/customXml" Target="../ink/ink9.xml"/><Relationship Id="rId4" Type="http://schemas.openxmlformats.org/officeDocument/2006/relationships/image" Target="../media/image6.png"/><Relationship Id="rId9" Type="http://schemas.openxmlformats.org/officeDocument/2006/relationships/customXml" Target="../ink/ink4.xml"/><Relationship Id="rId14" Type="http://schemas.openxmlformats.org/officeDocument/2006/relationships/image" Target="../media/image11.png"/><Relationship Id="rId22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絵と文字の加工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D5E35AC8-D920-136A-D20E-EA18C4CF55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14036" r="-1" b="1987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722BB23F-FE1F-F042-E041-39FA32DCD2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kumimoji="1" lang="ja-JP" altLang="en-US" sz="4000" dirty="0">
                <a:solidFill>
                  <a:schemeClr val="bg1"/>
                </a:solidFill>
              </a:rPr>
              <a:t>本当は去年の</a:t>
            </a:r>
            <a:r>
              <a:rPr kumimoji="1" lang="en-US" altLang="ja-JP" sz="4000" dirty="0">
                <a:solidFill>
                  <a:schemeClr val="bg1"/>
                </a:solidFill>
              </a:rPr>
              <a:t>12</a:t>
            </a:r>
            <a:r>
              <a:rPr kumimoji="1" lang="ja-JP" altLang="en-US" sz="4000" dirty="0">
                <a:solidFill>
                  <a:schemeClr val="bg1"/>
                </a:solidFill>
              </a:rPr>
              <a:t>月頃の</a:t>
            </a:r>
            <a:br>
              <a:rPr kumimoji="1" lang="en-US" altLang="ja-JP" sz="4400" dirty="0">
                <a:solidFill>
                  <a:schemeClr val="bg1"/>
                </a:solidFill>
              </a:rPr>
            </a:br>
            <a:r>
              <a:rPr kumimoji="1" lang="ja-JP" altLang="en-US" sz="4800" dirty="0">
                <a:solidFill>
                  <a:schemeClr val="bg1"/>
                </a:solidFill>
              </a:rPr>
              <a:t>おれが一番欲しかった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r>
              <a:rPr kumimoji="1" lang="ja-JP" altLang="en-US" sz="8800" dirty="0">
                <a:solidFill>
                  <a:schemeClr val="bg1"/>
                </a:solidFill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就活メモアプリ</a:t>
            </a:r>
            <a:endParaRPr kumimoji="1" lang="ja-JP" altLang="en-US" sz="6600" dirty="0">
              <a:solidFill>
                <a:schemeClr val="bg1"/>
              </a:solidFill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00AEEED-7D92-5B5B-6D1A-EF764617A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chemeClr val="bg1"/>
                </a:solidFill>
              </a:rPr>
              <a:t>石川璃空</a:t>
            </a:r>
          </a:p>
        </p:txBody>
      </p:sp>
      <p:sp>
        <p:nvSpPr>
          <p:cNvPr id="11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042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F62A5DD-C492-F0E6-8A5F-B98732150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kumimoji="1" lang="ja-JP" altLang="en-US">
                <a:solidFill>
                  <a:srgbClr val="FFFFFF"/>
                </a:solidFill>
              </a:rPr>
              <a:t>はじめに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F48CF5-551E-54AB-2D85-92B9EF050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en-US" altLang="ja-JP" sz="4000" dirty="0"/>
              <a:t>27</a:t>
            </a:r>
            <a:r>
              <a:rPr kumimoji="1" lang="ja-JP" altLang="en-US" sz="4000" dirty="0"/>
              <a:t>卒の皆さん！</a:t>
            </a:r>
            <a:endParaRPr kumimoji="1" lang="en-US" altLang="ja-JP" sz="4000" dirty="0"/>
          </a:p>
          <a:p>
            <a:pPr marL="0" indent="0">
              <a:buNone/>
            </a:pPr>
            <a:r>
              <a:rPr kumimoji="1" lang="ja-JP" altLang="en-US" sz="6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就活！！</a:t>
            </a:r>
            <a:endParaRPr kumimoji="1" lang="en-US" altLang="ja-JP" sz="6000" dirty="0">
              <a:latin typeface="HGP創英角ｺﾞｼｯｸUB" panose="020B0900000000000000" pitchFamily="50" charset="-128"/>
              <a:ea typeface="HGP創英角ｺﾞｼｯｸUB" panose="020B0900000000000000" pitchFamily="50" charset="-128"/>
            </a:endParaRPr>
          </a:p>
          <a:p>
            <a:pPr marL="0" indent="0">
              <a:buNone/>
            </a:pPr>
            <a:r>
              <a:rPr kumimoji="1" lang="ja-JP" altLang="en-US" sz="6600" dirty="0"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楽しんでますか～～！！？！？！？！？</a:t>
            </a:r>
          </a:p>
        </p:txBody>
      </p:sp>
    </p:spTree>
    <p:extLst>
      <p:ext uri="{BB962C8B-B14F-4D97-AF65-F5344CB8AC3E}">
        <p14:creationId xmlns:p14="http://schemas.microsoft.com/office/powerpoint/2010/main" val="1780752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6BD2101D-050E-1E87-D477-E1F8E594B9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625" y="946101"/>
            <a:ext cx="8230749" cy="5572903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8A938DD6-03B4-864F-6B4F-69910B903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7353"/>
            <a:ext cx="5026572" cy="1053415"/>
          </a:xfrm>
        </p:spPr>
        <p:txBody>
          <a:bodyPr>
            <a:normAutofit fontScale="90000"/>
          </a:bodyPr>
          <a:lstStyle/>
          <a:p>
            <a:r>
              <a:rPr kumimoji="1" lang="ja-JP" altLang="en-US" sz="6000" dirty="0">
                <a:latin typeface="HGP創英角ｺﾞｼｯｸUB" panose="020B0900000000000000" pitchFamily="50" charset="-128"/>
                <a:ea typeface="HGP創英角ｺﾞｼｯｸUB" panose="020B0900000000000000" pitchFamily="50" charset="-128"/>
              </a:rPr>
              <a:t>私はなんと・・・！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A36D285-B868-A6B5-33F2-E9B8DFC56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4436562"/>
            <a:ext cx="10515600" cy="19276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もうすぐ</a:t>
            </a:r>
            <a:r>
              <a:rPr lang="en-US" altLang="ja-JP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(2026</a:t>
            </a:r>
            <a:r>
              <a:rPr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年</a:t>
            </a:r>
            <a:r>
              <a:rPr lang="en-US" altLang="ja-JP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1</a:t>
            </a:r>
            <a:r>
              <a:rPr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月</a:t>
            </a:r>
            <a:r>
              <a:rPr lang="en-US" altLang="ja-JP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21</a:t>
            </a:r>
            <a:r>
              <a:rPr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日現在</a:t>
            </a:r>
            <a:r>
              <a:rPr lang="en-US" altLang="ja-JP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)</a:t>
            </a:r>
          </a:p>
          <a:p>
            <a:pPr marL="0" indent="0">
              <a:buNone/>
            </a:pPr>
            <a:r>
              <a:rPr kumimoji="1"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２０</a:t>
            </a:r>
            <a:r>
              <a:rPr lang="ja-JP" altLang="en-US" sz="5400" b="1" dirty="0">
                <a:ln w="19050">
                  <a:solidFill>
                    <a:schemeClr val="tx1"/>
                  </a:solidFill>
                </a:ln>
                <a:gradFill>
                  <a:gsLst>
                    <a:gs pos="13000">
                      <a:srgbClr val="7030A0"/>
                    </a:gs>
                    <a:gs pos="24000">
                      <a:srgbClr val="0070C0"/>
                    </a:gs>
                    <a:gs pos="35000">
                      <a:srgbClr val="00B050"/>
                    </a:gs>
                    <a:gs pos="51000">
                      <a:srgbClr val="92D050"/>
                    </a:gs>
                    <a:gs pos="66000">
                      <a:srgbClr val="FFFF00"/>
                    </a:gs>
                    <a:gs pos="84000">
                      <a:srgbClr val="FFC000"/>
                    </a:gs>
                    <a:gs pos="90000">
                      <a:srgbClr val="FF0000"/>
                    </a:gs>
                  </a:gsLst>
                  <a:lin ang="5400000" scaled="1"/>
                </a:gradFill>
                <a:effectLst>
                  <a:glow rad="241300">
                    <a:srgbClr val="FFFF00">
                      <a:alpha val="40000"/>
                    </a:srgbClr>
                  </a:glow>
                </a:effectLst>
                <a:latin typeface="HG創英角ﾎﾟｯﾌﾟ体" panose="040B0A09000000000000" pitchFamily="49" charset="-128"/>
                <a:ea typeface="HG創英角ﾎﾟｯﾌﾟ体" panose="040B0A09000000000000" pitchFamily="49" charset="-128"/>
              </a:rPr>
              <a:t>社落ちです！！！！！</a:t>
            </a:r>
            <a:endParaRPr lang="en-US" altLang="ja-JP" sz="5400" b="1" dirty="0">
              <a:ln w="19050">
                <a:solidFill>
                  <a:schemeClr val="tx1"/>
                </a:solidFill>
              </a:ln>
              <a:gradFill>
                <a:gsLst>
                  <a:gs pos="13000">
                    <a:srgbClr val="7030A0"/>
                  </a:gs>
                  <a:gs pos="24000">
                    <a:srgbClr val="0070C0"/>
                  </a:gs>
                  <a:gs pos="35000">
                    <a:srgbClr val="00B050"/>
                  </a:gs>
                  <a:gs pos="51000">
                    <a:srgbClr val="92D050"/>
                  </a:gs>
                  <a:gs pos="66000">
                    <a:srgbClr val="FFFF00"/>
                  </a:gs>
                  <a:gs pos="84000">
                    <a:srgbClr val="FFC000"/>
                  </a:gs>
                  <a:gs pos="90000">
                    <a:srgbClr val="FF0000"/>
                  </a:gs>
                </a:gsLst>
                <a:lin ang="5400000" scaled="1"/>
              </a:gradFill>
              <a:effectLst>
                <a:glow rad="241300">
                  <a:srgbClr val="FFFF00">
                    <a:alpha val="40000"/>
                  </a:srgbClr>
                </a:glow>
              </a:effectLst>
              <a:latin typeface="HG創英角ﾎﾟｯﾌﾟ体" panose="040B0A09000000000000" pitchFamily="49" charset="-128"/>
              <a:ea typeface="HG創英角ﾎﾟｯﾌﾟ体" panose="040B0A09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171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7528229D-ECD3-F93A-DF41-405B78520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5" y="191389"/>
            <a:ext cx="6096528" cy="3432345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106527A-10F5-847C-1707-D0125CCCEB38}"/>
              </a:ext>
            </a:extLst>
          </p:cNvPr>
          <p:cNvSpPr txBox="1"/>
          <p:nvPr/>
        </p:nvSpPr>
        <p:spPr>
          <a:xfrm>
            <a:off x="3947292" y="3623734"/>
            <a:ext cx="429741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/>
              <a:t>↑この</a:t>
            </a:r>
            <a:r>
              <a:rPr kumimoji="1" lang="en-US" altLang="ja-JP" sz="4000" dirty="0"/>
              <a:t>Excel</a:t>
            </a:r>
            <a:r>
              <a:rPr kumimoji="1" lang="ja-JP" altLang="en-US" sz="4000" dirty="0"/>
              <a:t>シート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0877A7F-A65B-DA08-5C59-4C0C77E96A16}"/>
              </a:ext>
            </a:extLst>
          </p:cNvPr>
          <p:cNvSpPr txBox="1"/>
          <p:nvPr/>
        </p:nvSpPr>
        <p:spPr>
          <a:xfrm>
            <a:off x="1560574" y="4542953"/>
            <a:ext cx="90708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600" dirty="0"/>
              <a:t>まとめるの、大変では</a:t>
            </a:r>
            <a:endParaRPr kumimoji="1" lang="en-US" altLang="ja-JP" sz="6600" dirty="0"/>
          </a:p>
          <a:p>
            <a:pPr algn="ctr"/>
            <a:r>
              <a:rPr lang="ja-JP" altLang="en-US" sz="6600" dirty="0"/>
              <a:t>ありませんでしたか？</a:t>
            </a:r>
            <a:endParaRPr kumimoji="1" lang="ja-JP" altLang="en-US" sz="6600" dirty="0"/>
          </a:p>
        </p:txBody>
      </p:sp>
    </p:spTree>
    <p:extLst>
      <p:ext uri="{BB962C8B-B14F-4D97-AF65-F5344CB8AC3E}">
        <p14:creationId xmlns:p14="http://schemas.microsoft.com/office/powerpoint/2010/main" val="40271452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ダイアグラム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CF3CC319-BD65-1264-3636-CCF957E8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4418524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521330-BFC2-CE64-F1A6-EFE890DDC8B8}"/>
              </a:ext>
            </a:extLst>
          </p:cNvPr>
          <p:cNvSpPr txBox="1"/>
          <p:nvPr/>
        </p:nvSpPr>
        <p:spPr>
          <a:xfrm>
            <a:off x="391248" y="4509051"/>
            <a:ext cx="114095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4000" u="sng" dirty="0"/>
              <a:t>一応個人でも</a:t>
            </a:r>
            <a:r>
              <a:rPr lang="en-US" altLang="ja-JP" sz="4000" u="sng" dirty="0"/>
              <a:t>11</a:t>
            </a:r>
            <a:r>
              <a:rPr lang="ja-JP" altLang="en-US" sz="4000" u="sng" dirty="0"/>
              <a:t>月頃から</a:t>
            </a:r>
            <a:r>
              <a:rPr lang="en-US" altLang="ja-JP" sz="4000" u="sng" dirty="0"/>
              <a:t>Excel</a:t>
            </a:r>
            <a:r>
              <a:rPr lang="ja-JP" altLang="en-US" sz="4000" u="sng" dirty="0"/>
              <a:t>でまとめていた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BBFCCD4-E460-770E-E1B5-62EAE33838BD}"/>
              </a:ext>
            </a:extLst>
          </p:cNvPr>
          <p:cNvSpPr txBox="1"/>
          <p:nvPr/>
        </p:nvSpPr>
        <p:spPr>
          <a:xfrm>
            <a:off x="605027" y="5230368"/>
            <a:ext cx="1098194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dirty="0"/>
              <a:t>理由：</a:t>
            </a:r>
            <a:endParaRPr kumimoji="1" lang="en-US" altLang="ja-JP" sz="4400" dirty="0"/>
          </a:p>
          <a:p>
            <a:pPr algn="ctr"/>
            <a:r>
              <a:rPr kumimoji="1" lang="ja-JP" altLang="en-US" sz="4400" dirty="0"/>
              <a:t>１２月時点で既に</a:t>
            </a:r>
            <a:r>
              <a:rPr kumimoji="1" lang="en-US" altLang="ja-JP" sz="4400" dirty="0"/>
              <a:t>20</a:t>
            </a:r>
            <a:r>
              <a:rPr kumimoji="1" lang="ja-JP" altLang="en-US" sz="4400" dirty="0"/>
              <a:t>社程受けていたため</a:t>
            </a:r>
          </a:p>
        </p:txBody>
      </p:sp>
    </p:spTree>
    <p:extLst>
      <p:ext uri="{BB962C8B-B14F-4D97-AF65-F5344CB8AC3E}">
        <p14:creationId xmlns:p14="http://schemas.microsoft.com/office/powerpoint/2010/main" val="403089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8648C3CB-D0E1-B91B-A4AD-DACD36E7F1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8960026"/>
              </p:ext>
            </p:extLst>
          </p:nvPr>
        </p:nvGraphicFramePr>
        <p:xfrm>
          <a:off x="1208202" y="1055971"/>
          <a:ext cx="9775596" cy="369042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9775596">
                  <a:extLst>
                    <a:ext uri="{9D8B030D-6E8A-4147-A177-3AD203B41FA5}">
                      <a16:colId xmlns:a16="http://schemas.microsoft.com/office/drawing/2014/main" val="4068299298"/>
                    </a:ext>
                  </a:extLst>
                </a:gridCol>
              </a:tblGrid>
              <a:tr h="16683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ja-JP" sz="8000" b="1" kern="1200" dirty="0">
                          <a:solidFill>
                            <a:schemeClr val="tx1"/>
                          </a:solidFill>
                          <a:effectLst/>
                        </a:rPr>
                        <a:t>まとめづらい</a:t>
                      </a:r>
                      <a:endParaRPr kumimoji="1" lang="ja-JP" altLang="en-US" sz="8000" b="1" kern="12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724140"/>
                  </a:ext>
                </a:extLst>
              </a:tr>
              <a:tr h="2022050">
                <a:tc>
                  <a:txBody>
                    <a:bodyPr/>
                    <a:lstStyle/>
                    <a:p>
                      <a:pPr algn="ctr" rtl="0" eaLnBrk="1" latinLnBrk="0" hangingPunct="1"/>
                      <a:r>
                        <a:rPr kumimoji="1" lang="en-US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Tab</a:t>
                      </a:r>
                      <a:r>
                        <a:rPr kumimoji="1" lang="ja-JP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押して列移動して</a:t>
                      </a:r>
                      <a:r>
                        <a:rPr kumimoji="1" lang="en-US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Enter</a:t>
                      </a:r>
                      <a:r>
                        <a:rPr kumimoji="1" lang="ja-JP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して行移動して</a:t>
                      </a:r>
                      <a:endParaRPr lang="ja-JP" altLang="ja-JP" sz="3200" dirty="0">
                        <a:effectLst/>
                      </a:endParaRPr>
                    </a:p>
                    <a:p>
                      <a:pPr algn="ctr" rtl="0" eaLnBrk="1" latinLnBrk="0" hangingPunct="1"/>
                      <a:r>
                        <a:rPr kumimoji="1" lang="en-US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Excel</a:t>
                      </a:r>
                      <a:r>
                        <a:rPr kumimoji="1" lang="ja-JP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だから仕方ないんだけど打ちづらいし</a:t>
                      </a:r>
                      <a:endParaRPr lang="ja-JP" altLang="ja-JP" sz="3200" dirty="0">
                        <a:effectLst/>
                      </a:endParaRPr>
                    </a:p>
                    <a:p>
                      <a:pPr algn="ctr" rtl="0" eaLnBrk="1" latinLnBrk="0" hangingPunct="1"/>
                      <a:r>
                        <a:rPr kumimoji="1" lang="ja-JP" altLang="ja-JP" sz="3200" kern="1200" dirty="0">
                          <a:solidFill>
                            <a:schemeClr val="dk1"/>
                          </a:solidFill>
                          <a:effectLst/>
                        </a:rPr>
                        <a:t>間違って他のセルに上書きしちゃったりする</a:t>
                      </a:r>
                      <a:endParaRPr lang="ja-JP" altLang="ja-JP" sz="3200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215913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DD798EA7-478E-52F2-5DE1-3C7348E6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151"/>
            <a:ext cx="10515600" cy="872104"/>
          </a:xfrm>
        </p:spPr>
        <p:txBody>
          <a:bodyPr/>
          <a:lstStyle/>
          <a:p>
            <a:r>
              <a:rPr lang="ja-JP" altLang="en-US" dirty="0">
                <a:latin typeface="+mj-ea"/>
              </a:rPr>
              <a:t>まとめてて気付いたこと①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446A7B1-E962-E0A3-F3F3-AFC5E0654E30}"/>
              </a:ext>
            </a:extLst>
          </p:cNvPr>
          <p:cNvSpPr txBox="1"/>
          <p:nvPr/>
        </p:nvSpPr>
        <p:spPr>
          <a:xfrm>
            <a:off x="719328" y="5100071"/>
            <a:ext cx="10753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8000" u="sng" dirty="0"/>
              <a:t>操作の容易性に</a:t>
            </a:r>
            <a:r>
              <a:rPr lang="ja-JP" altLang="en-US" sz="8000" u="sng" dirty="0"/>
              <a:t>欠ける</a:t>
            </a:r>
            <a:endParaRPr kumimoji="1" lang="ja-JP" altLang="en-US" sz="8000" u="sng" dirty="0"/>
          </a:p>
        </p:txBody>
      </p:sp>
    </p:spTree>
    <p:extLst>
      <p:ext uri="{BB962C8B-B14F-4D97-AF65-F5344CB8AC3E}">
        <p14:creationId xmlns:p14="http://schemas.microsoft.com/office/powerpoint/2010/main" val="371075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0E0D89AA-20A6-75DB-7265-14995EF048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932"/>
          <a:stretch>
            <a:fillRect/>
          </a:stretch>
        </p:blipFill>
        <p:spPr>
          <a:xfrm>
            <a:off x="0" y="0"/>
            <a:ext cx="12093888" cy="5938244"/>
          </a:xfrm>
          <a:prstGeom prst="rect">
            <a:avLst/>
          </a:prstGeom>
        </p:spPr>
      </p:pic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DA4802E4-C9DD-40A4-1417-28C9D3CF275D}"/>
              </a:ext>
            </a:extLst>
          </p:cNvPr>
          <p:cNvGrpSpPr/>
          <p:nvPr/>
        </p:nvGrpSpPr>
        <p:grpSpPr>
          <a:xfrm>
            <a:off x="7965865" y="2799423"/>
            <a:ext cx="2008800" cy="351720"/>
            <a:chOff x="7965865" y="2799423"/>
            <a:chExt cx="200880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E7332BC3-600F-0F76-D651-F9A45C323E07}"/>
                    </a:ext>
                  </a:extLst>
                </p14:cNvPr>
                <p14:cNvContentPartPr/>
                <p14:nvPr/>
              </p14:nvContentPartPr>
              <p14:xfrm>
                <a:off x="7965865" y="2855943"/>
                <a:ext cx="224640" cy="5076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E7332BC3-600F-0F76-D651-F9A45C323E0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947865" y="2837943"/>
                  <a:ext cx="260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3A8DA34A-2B3B-F9B8-4195-3A3CD0C9194E}"/>
                    </a:ext>
                  </a:extLst>
                </p14:cNvPr>
                <p14:cNvContentPartPr/>
                <p14:nvPr/>
              </p14:nvContentPartPr>
              <p14:xfrm>
                <a:off x="7974145" y="2969343"/>
                <a:ext cx="189000" cy="14256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3A8DA34A-2B3B-F9B8-4195-3A3CD0C919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956505" y="2951343"/>
                  <a:ext cx="2246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6A82F1E7-EF38-7CF7-3F32-4A4F20CD45B7}"/>
                    </a:ext>
                  </a:extLst>
                </p14:cNvPr>
                <p14:cNvContentPartPr/>
                <p14:nvPr/>
              </p14:nvContentPartPr>
              <p14:xfrm>
                <a:off x="8418025" y="2854863"/>
                <a:ext cx="162000" cy="85320"/>
              </p14:xfrm>
            </p:contentPart>
          </mc:Choice>
          <mc:Fallback xmlns="">
            <p:pic>
              <p:nvPicPr>
                <p:cNvPr id="18" name="インク 17">
                  <a:extLst>
                    <a:ext uri="{FF2B5EF4-FFF2-40B4-BE49-F238E27FC236}">
                      <a16:creationId xmlns:a16="http://schemas.microsoft.com/office/drawing/2014/main" id="{6A82F1E7-EF38-7CF7-3F32-4A4F20CD45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400385" y="2836863"/>
                  <a:ext cx="1976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CF9D1163-E427-BE87-A93D-2DCD92611A30}"/>
                    </a:ext>
                  </a:extLst>
                </p14:cNvPr>
                <p14:cNvContentPartPr/>
                <p14:nvPr/>
              </p14:nvContentPartPr>
              <p14:xfrm>
                <a:off x="8435665" y="2950623"/>
                <a:ext cx="237240" cy="132480"/>
              </p14:xfrm>
            </p:contentPart>
          </mc:Choice>
          <mc:Fallback xmlns="">
            <p:pic>
              <p:nvPicPr>
                <p:cNvPr id="19" name="インク 18">
                  <a:extLst>
                    <a:ext uri="{FF2B5EF4-FFF2-40B4-BE49-F238E27FC236}">
                      <a16:creationId xmlns:a16="http://schemas.microsoft.com/office/drawing/2014/main" id="{CF9D1163-E427-BE87-A93D-2DCD92611A3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17665" y="2932623"/>
                  <a:ext cx="2728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0" name="インク 19">
                  <a:extLst>
                    <a:ext uri="{FF2B5EF4-FFF2-40B4-BE49-F238E27FC236}">
                      <a16:creationId xmlns:a16="http://schemas.microsoft.com/office/drawing/2014/main" id="{46B0445B-E11A-7910-E8C9-2C7BD482E220}"/>
                    </a:ext>
                  </a:extLst>
                </p14:cNvPr>
                <p14:cNvContentPartPr/>
                <p14:nvPr/>
              </p14:nvContentPartPr>
              <p14:xfrm>
                <a:off x="8812945" y="2856303"/>
                <a:ext cx="30600" cy="278640"/>
              </p14:xfrm>
            </p:contentPart>
          </mc:Choice>
          <mc:Fallback xmlns="">
            <p:pic>
              <p:nvPicPr>
                <p:cNvPr id="20" name="インク 19">
                  <a:extLst>
                    <a:ext uri="{FF2B5EF4-FFF2-40B4-BE49-F238E27FC236}">
                      <a16:creationId xmlns:a16="http://schemas.microsoft.com/office/drawing/2014/main" id="{46B0445B-E11A-7910-E8C9-2C7BD482E22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94945" y="2838303"/>
                  <a:ext cx="66240" cy="31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1" name="インク 20">
                  <a:extLst>
                    <a:ext uri="{FF2B5EF4-FFF2-40B4-BE49-F238E27FC236}">
                      <a16:creationId xmlns:a16="http://schemas.microsoft.com/office/drawing/2014/main" id="{5EB33868-854C-A466-A123-F328C07090C9}"/>
                    </a:ext>
                  </a:extLst>
                </p14:cNvPr>
                <p14:cNvContentPartPr/>
                <p14:nvPr/>
              </p14:nvContentPartPr>
              <p14:xfrm>
                <a:off x="9040465" y="2912823"/>
                <a:ext cx="23040" cy="360"/>
              </p14:xfrm>
            </p:contentPart>
          </mc:Choice>
          <mc:Fallback xmlns="">
            <p:pic>
              <p:nvPicPr>
                <p:cNvPr id="21" name="インク 20">
                  <a:extLst>
                    <a:ext uri="{FF2B5EF4-FFF2-40B4-BE49-F238E27FC236}">
                      <a16:creationId xmlns:a16="http://schemas.microsoft.com/office/drawing/2014/main" id="{5EB33868-854C-A466-A123-F328C07090C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9022465" y="2894823"/>
                  <a:ext cx="58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2" name="インク 21">
                  <a:extLst>
                    <a:ext uri="{FF2B5EF4-FFF2-40B4-BE49-F238E27FC236}">
                      <a16:creationId xmlns:a16="http://schemas.microsoft.com/office/drawing/2014/main" id="{6DB4569B-EF91-1BE4-9060-86877D2F7B13}"/>
                    </a:ext>
                  </a:extLst>
                </p14:cNvPr>
                <p14:cNvContentPartPr/>
                <p14:nvPr/>
              </p14:nvContentPartPr>
              <p14:xfrm>
                <a:off x="8955145" y="3035223"/>
                <a:ext cx="244440" cy="78480"/>
              </p14:xfrm>
            </p:contentPart>
          </mc:Choice>
          <mc:Fallback xmlns="">
            <p:pic>
              <p:nvPicPr>
                <p:cNvPr id="22" name="インク 21">
                  <a:extLst>
                    <a:ext uri="{FF2B5EF4-FFF2-40B4-BE49-F238E27FC236}">
                      <a16:creationId xmlns:a16="http://schemas.microsoft.com/office/drawing/2014/main" id="{6DB4569B-EF91-1BE4-9060-86877D2F7B1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937505" y="3017223"/>
                  <a:ext cx="2800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279A8470-1469-B8CD-0899-F2408BA2E384}"/>
                    </a:ext>
                  </a:extLst>
                </p14:cNvPr>
                <p14:cNvContentPartPr/>
                <p14:nvPr/>
              </p14:nvContentPartPr>
              <p14:xfrm>
                <a:off x="9002665" y="2912823"/>
                <a:ext cx="149760" cy="2952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279A8470-1469-B8CD-0899-F2408BA2E38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84665" y="2894823"/>
                  <a:ext cx="1854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05A3FD69-7AB3-80CA-5A85-7906A6B2F013}"/>
                    </a:ext>
                  </a:extLst>
                </p14:cNvPr>
                <p14:cNvContentPartPr/>
                <p14:nvPr/>
              </p14:nvContentPartPr>
              <p14:xfrm>
                <a:off x="9337105" y="2988063"/>
                <a:ext cx="61560" cy="1407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05A3FD69-7AB3-80CA-5A85-7906A6B2F01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319465" y="2970063"/>
                  <a:ext cx="972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434E954E-4478-ADA9-1546-309E57F51F3A}"/>
                    </a:ext>
                  </a:extLst>
                </p14:cNvPr>
                <p14:cNvContentPartPr/>
                <p14:nvPr/>
              </p14:nvContentPartPr>
              <p14:xfrm>
                <a:off x="9351145" y="2799423"/>
                <a:ext cx="227520" cy="33804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434E954E-4478-ADA9-1546-309E57F51F3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333505" y="2781783"/>
                  <a:ext cx="26316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FCE8341B-47F2-A19E-E3D8-D3862173710C}"/>
                    </a:ext>
                  </a:extLst>
                </p14:cNvPr>
                <p14:cNvContentPartPr/>
                <p14:nvPr/>
              </p14:nvContentPartPr>
              <p14:xfrm>
                <a:off x="9690625" y="2912823"/>
                <a:ext cx="284040" cy="23832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FCE8341B-47F2-A19E-E3D8-D3862173710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72625" y="2894823"/>
                  <a:ext cx="3196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0" name="インク 29">
                  <a:extLst>
                    <a:ext uri="{FF2B5EF4-FFF2-40B4-BE49-F238E27FC236}">
                      <a16:creationId xmlns:a16="http://schemas.microsoft.com/office/drawing/2014/main" id="{BFE839FA-FC57-1992-482B-4748E17BDB4D}"/>
                    </a:ext>
                  </a:extLst>
                </p14:cNvPr>
                <p14:cNvContentPartPr/>
                <p14:nvPr/>
              </p14:nvContentPartPr>
              <p14:xfrm>
                <a:off x="9797905" y="2846943"/>
                <a:ext cx="72000" cy="276480"/>
              </p14:xfrm>
            </p:contentPart>
          </mc:Choice>
          <mc:Fallback xmlns="">
            <p:pic>
              <p:nvPicPr>
                <p:cNvPr id="30" name="インク 29">
                  <a:extLst>
                    <a:ext uri="{FF2B5EF4-FFF2-40B4-BE49-F238E27FC236}">
                      <a16:creationId xmlns:a16="http://schemas.microsoft.com/office/drawing/2014/main" id="{BFE839FA-FC57-1992-482B-4748E17BDB4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80265" y="2828943"/>
                  <a:ext cx="107640" cy="3121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058FA1C-EB46-434C-B7F1-0E5195C9D2CC}"/>
              </a:ext>
            </a:extLst>
          </p:cNvPr>
          <p:cNvSpPr/>
          <p:nvPr/>
        </p:nvSpPr>
        <p:spPr>
          <a:xfrm>
            <a:off x="7521169" y="2676303"/>
            <a:ext cx="2744622" cy="548640"/>
          </a:xfrm>
          <a:prstGeom prst="rect">
            <a:avLst/>
          </a:prstGeom>
          <a:solidFill>
            <a:srgbClr val="66CC00">
              <a:alpha val="5000"/>
            </a:srgbClr>
          </a:solidFill>
          <a:ln w="36000">
            <a:solidFill>
              <a:srgbClr val="66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ko-KR" altLang="en-US">
              <a:solidFill>
                <a:srgbClr val="66CC00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387A50B-8B84-0768-47B2-2F7EB8763EE0}"/>
              </a:ext>
            </a:extLst>
          </p:cNvPr>
          <p:cNvSpPr txBox="1"/>
          <p:nvPr/>
        </p:nvSpPr>
        <p:spPr>
          <a:xfrm>
            <a:off x="1303806" y="6000884"/>
            <a:ext cx="9486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400" dirty="0"/>
              <a:t>正直目がチカチカしてきませんか？</a:t>
            </a:r>
          </a:p>
        </p:txBody>
      </p:sp>
      <p:sp>
        <p:nvSpPr>
          <p:cNvPr id="33" name="吹き出し: 角を丸めた四角形 32">
            <a:extLst>
              <a:ext uri="{FF2B5EF4-FFF2-40B4-BE49-F238E27FC236}">
                <a16:creationId xmlns:a16="http://schemas.microsoft.com/office/drawing/2014/main" id="{29170EF1-00B7-3583-B0F1-12995438F840}"/>
              </a:ext>
            </a:extLst>
          </p:cNvPr>
          <p:cNvSpPr/>
          <p:nvPr/>
        </p:nvSpPr>
        <p:spPr>
          <a:xfrm>
            <a:off x="254524" y="678730"/>
            <a:ext cx="3949831" cy="1602557"/>
          </a:xfrm>
          <a:prstGeom prst="wedgeRoundRectCallout">
            <a:avLst/>
          </a:prstGeom>
          <a:ln w="762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/>
              <a:t>フォルシア</a:t>
            </a:r>
            <a:r>
              <a:rPr kumimoji="1" lang="en-US" altLang="ja-JP" sz="2400" dirty="0"/>
              <a:t>(</a:t>
            </a:r>
            <a:r>
              <a:rPr kumimoji="1" lang="ja-JP" altLang="en-US" sz="2400" dirty="0"/>
              <a:t>株</a:t>
            </a:r>
            <a:r>
              <a:rPr kumimoji="1" lang="en-US" altLang="ja-JP" sz="2400" dirty="0"/>
              <a:t>)</a:t>
            </a:r>
            <a:r>
              <a:rPr kumimoji="1" lang="ja-JP" altLang="en-US" sz="2400" dirty="0"/>
              <a:t>について</a:t>
            </a:r>
            <a:endParaRPr kumimoji="1" lang="en-US" altLang="ja-JP" sz="2400" dirty="0"/>
          </a:p>
          <a:p>
            <a:pPr algn="ctr"/>
            <a:r>
              <a:rPr lang="ja-JP" altLang="en-US" sz="2400" dirty="0"/>
              <a:t>情報をまとめよう！！</a:t>
            </a:r>
            <a:endParaRPr kumimoji="1" lang="ja-JP" altLang="en-US" sz="2400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4B04C68-030F-435A-9F6B-364BD200A85C}"/>
              </a:ext>
            </a:extLst>
          </p:cNvPr>
          <p:cNvSpPr/>
          <p:nvPr/>
        </p:nvSpPr>
        <p:spPr>
          <a:xfrm>
            <a:off x="5466259" y="2476750"/>
            <a:ext cx="1755988" cy="914400"/>
          </a:xfrm>
          <a:prstGeom prst="rightArrow">
            <a:avLst/>
          </a:prstGeom>
          <a:solidFill>
            <a:srgbClr val="66CC00">
              <a:alpha val="5000"/>
            </a:srgbClr>
          </a:solidFill>
          <a:ln w="36000">
            <a:solidFill>
              <a:srgbClr val="66CC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ja-JP" altLang="en-US">
              <a:solidFill>
                <a:srgbClr val="66CC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127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2" grpId="0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197B-17B8-7E1A-A6BE-516A680EA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AD19FE05-7398-7108-DFA3-DD5F8A7BA1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173515"/>
              </p:ext>
            </p:extLst>
          </p:nvPr>
        </p:nvGraphicFramePr>
        <p:xfrm>
          <a:off x="1208202" y="1055971"/>
          <a:ext cx="9775596" cy="369042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9775596">
                  <a:extLst>
                    <a:ext uri="{9D8B030D-6E8A-4147-A177-3AD203B41FA5}">
                      <a16:colId xmlns:a16="http://schemas.microsoft.com/office/drawing/2014/main" val="4068299298"/>
                    </a:ext>
                  </a:extLst>
                </a:gridCol>
              </a:tblGrid>
              <a:tr h="166837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9600" dirty="0"/>
                        <a:t>見づらい</a:t>
                      </a:r>
                      <a:endParaRPr lang="ja-JP" altLang="en-US" sz="4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1724140"/>
                  </a:ext>
                </a:extLst>
              </a:tr>
              <a:tr h="202205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ja-JP" altLang="en-US" sz="4400" dirty="0"/>
                        <a:t>どう見やすくしても</a:t>
                      </a:r>
                      <a:endParaRPr lang="en-US" altLang="ja-JP" sz="4400" dirty="0"/>
                    </a:p>
                    <a:p>
                      <a:pPr marL="0" indent="0" algn="ctr">
                        <a:buNone/>
                      </a:pPr>
                      <a:r>
                        <a:rPr lang="ja-JP" altLang="en-US" sz="4400" dirty="0"/>
                        <a:t>所詮</a:t>
                      </a:r>
                      <a:r>
                        <a:rPr lang="en-US" altLang="ja-JP" sz="4400" dirty="0"/>
                        <a:t>Excel</a:t>
                      </a:r>
                      <a:endParaRPr lang="en-US" altLang="ja-JP" sz="4400" dirty="0">
                        <a:latin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7215913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92FEB605-3FC2-D366-2AD1-977DDD37B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151"/>
            <a:ext cx="10515600" cy="872104"/>
          </a:xfrm>
        </p:spPr>
        <p:txBody>
          <a:bodyPr/>
          <a:lstStyle/>
          <a:p>
            <a:r>
              <a:rPr lang="ja-JP" altLang="en-US" dirty="0">
                <a:latin typeface="+mj-ea"/>
              </a:rPr>
              <a:t>まとめてて気付いたこと②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714F2B-BEE3-7180-B681-25056D13CA24}"/>
              </a:ext>
            </a:extLst>
          </p:cNvPr>
          <p:cNvSpPr txBox="1"/>
          <p:nvPr/>
        </p:nvSpPr>
        <p:spPr>
          <a:xfrm>
            <a:off x="719328" y="5100071"/>
            <a:ext cx="10753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8000" u="sng" dirty="0"/>
              <a:t>全体の視認性に欠ける</a:t>
            </a:r>
          </a:p>
        </p:txBody>
      </p:sp>
    </p:spTree>
    <p:extLst>
      <p:ext uri="{BB962C8B-B14F-4D97-AF65-F5344CB8AC3E}">
        <p14:creationId xmlns:p14="http://schemas.microsoft.com/office/powerpoint/2010/main" val="31322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0F4268C-36DF-31C4-64CB-B503CDB8F2EF}"/>
              </a:ext>
            </a:extLst>
          </p:cNvPr>
          <p:cNvSpPr txBox="1"/>
          <p:nvPr/>
        </p:nvSpPr>
        <p:spPr>
          <a:xfrm>
            <a:off x="1624945" y="1234911"/>
            <a:ext cx="894210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9600" dirty="0"/>
              <a:t>実際に</a:t>
            </a:r>
            <a:endParaRPr kumimoji="1" lang="en-US" altLang="ja-JP" sz="9600" dirty="0"/>
          </a:p>
          <a:p>
            <a:pPr algn="ctr"/>
            <a:r>
              <a:rPr kumimoji="1" lang="ja-JP" altLang="en-US" sz="9600" dirty="0"/>
              <a:t>やってみよう！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4B101CE-79A8-72CD-D6E0-5FE3FD829B97}"/>
              </a:ext>
            </a:extLst>
          </p:cNvPr>
          <p:cNvSpPr txBox="1"/>
          <p:nvPr/>
        </p:nvSpPr>
        <p:spPr>
          <a:xfrm>
            <a:off x="1930138" y="4487158"/>
            <a:ext cx="83317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6000" dirty="0"/>
              <a:t>レベル☆～☆☆☆まで</a:t>
            </a:r>
            <a:endParaRPr kumimoji="1" lang="en-US" altLang="ja-JP" sz="6000" dirty="0"/>
          </a:p>
          <a:p>
            <a:pPr algn="ctr"/>
            <a:r>
              <a:rPr lang="ja-JP" altLang="en-US" sz="6000" dirty="0"/>
              <a:t>制限時間１問</a:t>
            </a:r>
            <a:r>
              <a:rPr lang="en-US" altLang="ja-JP" sz="6000" dirty="0"/>
              <a:t>5</a:t>
            </a:r>
            <a:r>
              <a:rPr lang="ja-JP" altLang="en-US" sz="6000" dirty="0"/>
              <a:t>秒</a:t>
            </a:r>
            <a:endParaRPr kumimoji="1" lang="en-US" altLang="ja-JP" sz="6000" dirty="0"/>
          </a:p>
        </p:txBody>
      </p:sp>
    </p:spTree>
    <p:extLst>
      <p:ext uri="{BB962C8B-B14F-4D97-AF65-F5344CB8AC3E}">
        <p14:creationId xmlns:p14="http://schemas.microsoft.com/office/powerpoint/2010/main" val="849066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315719-0744-31BA-0FFD-F387D2DC8197}"/>
              </a:ext>
            </a:extLst>
          </p:cNvPr>
          <p:cNvSpPr txBox="1"/>
          <p:nvPr/>
        </p:nvSpPr>
        <p:spPr>
          <a:xfrm>
            <a:off x="8949834" y="2041442"/>
            <a:ext cx="307445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テクノプロは</a:t>
            </a:r>
            <a:endParaRPr kumimoji="1" lang="en-US" altLang="ja-JP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何行目？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39C89E7-D918-62F4-1702-123ABAEF6A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322"/>
          <a:stretch>
            <a:fillRect/>
          </a:stretch>
        </p:blipFill>
        <p:spPr>
          <a:xfrm>
            <a:off x="700432" y="858525"/>
            <a:ext cx="7297916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B274E2-20DC-C45A-3FAE-88DCAD66CB13}"/>
              </a:ext>
            </a:extLst>
          </p:cNvPr>
          <p:cNvSpPr txBox="1"/>
          <p:nvPr/>
        </p:nvSpPr>
        <p:spPr>
          <a:xfrm>
            <a:off x="302084" y="0"/>
            <a:ext cx="4498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レベル：☆</a:t>
            </a:r>
          </a:p>
        </p:txBody>
      </p:sp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D2501C39-32D6-D709-78DB-C1152E4EA925}"/>
              </a:ext>
            </a:extLst>
          </p:cNvPr>
          <p:cNvSpPr/>
          <p:nvPr/>
        </p:nvSpPr>
        <p:spPr>
          <a:xfrm>
            <a:off x="9148540" y="4322217"/>
            <a:ext cx="1927955" cy="194243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1627C6BC-82DD-9361-FD67-126319EE579B}"/>
              </a:ext>
            </a:extLst>
          </p:cNvPr>
          <p:cNvSpPr/>
          <p:nvPr/>
        </p:nvSpPr>
        <p:spPr>
          <a:xfrm>
            <a:off x="9148540" y="4322216"/>
            <a:ext cx="1927955" cy="194243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FB04D54-1F62-4D6D-BDFA-8D327464A7FB}"/>
              </a:ext>
            </a:extLst>
          </p:cNvPr>
          <p:cNvGrpSpPr/>
          <p:nvPr/>
        </p:nvGrpSpPr>
        <p:grpSpPr>
          <a:xfrm>
            <a:off x="9148540" y="4322215"/>
            <a:ext cx="1927955" cy="1942432"/>
            <a:chOff x="7922196" y="4416484"/>
            <a:chExt cx="1927955" cy="1942432"/>
          </a:xfrm>
        </p:grpSpPr>
        <p:sp>
          <p:nvSpPr>
            <p:cNvPr id="7" name="フローチャート: 論理和 6">
              <a:extLst>
                <a:ext uri="{FF2B5EF4-FFF2-40B4-BE49-F238E27FC236}">
                  <a16:creationId xmlns:a16="http://schemas.microsoft.com/office/drawing/2014/main" id="{7D141F1B-BB00-3D77-2DC7-7F3C1DED455A}"/>
                </a:ext>
              </a:extLst>
            </p:cNvPr>
            <p:cNvSpPr/>
            <p:nvPr/>
          </p:nvSpPr>
          <p:spPr>
            <a:xfrm>
              <a:off x="7922196" y="4416484"/>
              <a:ext cx="1927955" cy="194243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和接合 9">
              <a:extLst>
                <a:ext uri="{FF2B5EF4-FFF2-40B4-BE49-F238E27FC236}">
                  <a16:creationId xmlns:a16="http://schemas.microsoft.com/office/drawing/2014/main" id="{BE7F95C6-6E8C-0D86-CBF5-043CDB32AEA0}"/>
                </a:ext>
              </a:extLst>
            </p:cNvPr>
            <p:cNvSpPr/>
            <p:nvPr/>
          </p:nvSpPr>
          <p:spPr>
            <a:xfrm>
              <a:off x="7922196" y="4416485"/>
              <a:ext cx="1927955" cy="1942431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37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9E5101-DECC-480A-2454-6FFDFDE20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25DE117-ECBE-1896-A751-9ACE6A3A2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6810FC7-E340-423E-BEE7-FC622376ACDA}"/>
              </a:ext>
            </a:extLst>
          </p:cNvPr>
          <p:cNvSpPr txBox="1"/>
          <p:nvPr/>
        </p:nvSpPr>
        <p:spPr>
          <a:xfrm>
            <a:off x="8949834" y="2041442"/>
            <a:ext cx="307445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テクノプロは</a:t>
            </a:r>
            <a:endParaRPr kumimoji="1" lang="en-US" altLang="ja-JP" sz="3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何行目？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62F651-448E-87C3-5B26-C81714B54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563ED2-7CA5-AADB-FCB5-D8F63E1AC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C46D447-BA0A-BAAD-B9CA-BACD0EC0DE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0322"/>
          <a:stretch>
            <a:fillRect/>
          </a:stretch>
        </p:blipFill>
        <p:spPr>
          <a:xfrm>
            <a:off x="700432" y="858525"/>
            <a:ext cx="7297916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8933B46-6AF1-8B1C-1B74-FA982685A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5251960-B8FB-7D5F-2043-3EC6C4DCDAD6}"/>
              </a:ext>
            </a:extLst>
          </p:cNvPr>
          <p:cNvSpPr txBox="1"/>
          <p:nvPr/>
        </p:nvSpPr>
        <p:spPr>
          <a:xfrm>
            <a:off x="302084" y="0"/>
            <a:ext cx="675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レベル：☆</a:t>
            </a:r>
            <a:r>
              <a:rPr kumimoji="1" lang="ja-JP" altLang="en-US" sz="5400" dirty="0">
                <a:solidFill>
                  <a:srgbClr val="00B050"/>
                </a:solidFill>
              </a:rPr>
              <a:t>　</a:t>
            </a:r>
            <a:r>
              <a:rPr kumimoji="1" lang="ja-JP" altLang="en-US" sz="5400" dirty="0">
                <a:solidFill>
                  <a:srgbClr val="FF0000"/>
                </a:solidFill>
              </a:rPr>
              <a:t>答え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8CB023A9-0A04-B866-9725-E3F12ED9FCC9}"/>
              </a:ext>
            </a:extLst>
          </p:cNvPr>
          <p:cNvSpPr/>
          <p:nvPr/>
        </p:nvSpPr>
        <p:spPr>
          <a:xfrm>
            <a:off x="1059990" y="1117547"/>
            <a:ext cx="4675695" cy="1653259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tx1"/>
                </a:solidFill>
              </a:rPr>
              <a:t>三行目のここ！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D47AC08-61C6-5375-768A-2B8437CB2D8E}"/>
              </a:ext>
            </a:extLst>
          </p:cNvPr>
          <p:cNvSpPr txBox="1"/>
          <p:nvPr/>
        </p:nvSpPr>
        <p:spPr>
          <a:xfrm>
            <a:off x="8927675" y="4487319"/>
            <a:ext cx="2328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solidFill>
                  <a:srgbClr val="FF0000"/>
                </a:solidFill>
              </a:rPr>
              <a:t>答え：</a:t>
            </a:r>
            <a:endParaRPr kumimoji="1" lang="en-US" altLang="ja-JP" sz="4800" dirty="0">
              <a:solidFill>
                <a:srgbClr val="FF0000"/>
              </a:solidFill>
            </a:endParaRPr>
          </a:p>
          <a:p>
            <a:r>
              <a:rPr lang="ja-JP" altLang="en-US" sz="4800" dirty="0">
                <a:solidFill>
                  <a:srgbClr val="FF0000"/>
                </a:solidFill>
              </a:rPr>
              <a:t>三行目</a:t>
            </a:r>
            <a:endParaRPr kumimoji="1" lang="ja-JP" altLang="en-US" sz="4800" dirty="0">
              <a:solidFill>
                <a:srgbClr val="FF0000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583A1F1-3E84-E3CB-C393-C65AC4AAEEC8}"/>
              </a:ext>
            </a:extLst>
          </p:cNvPr>
          <p:cNvSpPr/>
          <p:nvPr/>
        </p:nvSpPr>
        <p:spPr>
          <a:xfrm>
            <a:off x="556181" y="3044859"/>
            <a:ext cx="7550871" cy="989814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4847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F27E42-0472-BBAA-6EC0-58B21AA02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CCC31A-D85B-F67E-F18A-05F6205EC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361BCB5-5169-DA5B-E69A-F36124A0B1DF}"/>
              </a:ext>
            </a:extLst>
          </p:cNvPr>
          <p:cNvSpPr txBox="1"/>
          <p:nvPr/>
        </p:nvSpPr>
        <p:spPr>
          <a:xfrm>
            <a:off x="8949834" y="2041442"/>
            <a:ext cx="307445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kumimoji="1" lang="ja-JP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株</a:t>
            </a:r>
            <a:r>
              <a:rPr kumimoji="1" lang="en-US" altLang="ja-JP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r>
              <a:rPr kumimoji="1" lang="ja-JP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ヒップの</a:t>
            </a:r>
            <a:endParaRPr kumimoji="1" lang="en-US" altLang="ja-JP" sz="3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3200" dirty="0">
                <a:latin typeface="+mj-lt"/>
                <a:ea typeface="+mj-ea"/>
                <a:cs typeface="+mj-cs"/>
              </a:rPr>
              <a:t>今の選考状況は</a:t>
            </a:r>
            <a:endParaRPr lang="en-US" altLang="ja-JP" sz="32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ja-JP" alt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どれ？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6B2512-2B7C-EDDE-C54A-5B860D36D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4CAADA-EAD0-77A3-5659-BFCFC3708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67B5D79-D44A-6E9D-B148-E3BAB5124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5" b="4785"/>
          <a:stretch/>
        </p:blipFill>
        <p:spPr>
          <a:xfrm>
            <a:off x="700432" y="858525"/>
            <a:ext cx="7297916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1C89A85-D49C-9C74-8E44-59D26720B4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1050850-764D-3655-B9DA-A8726AE47132}"/>
              </a:ext>
            </a:extLst>
          </p:cNvPr>
          <p:cNvSpPr txBox="1"/>
          <p:nvPr/>
        </p:nvSpPr>
        <p:spPr>
          <a:xfrm>
            <a:off x="302084" y="0"/>
            <a:ext cx="44984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</a:t>
            </a:r>
            <a:r>
              <a:rPr lang="ja-JP" altLang="en-US" sz="5400" u="sng" dirty="0">
                <a:solidFill>
                  <a:srgbClr val="00B050"/>
                </a:solidFill>
              </a:rPr>
              <a:t>☆☆</a:t>
            </a:r>
            <a:endParaRPr kumimoji="1" lang="ja-JP" altLang="en-US" sz="5400" u="sng" dirty="0">
              <a:solidFill>
                <a:srgbClr val="00B050"/>
              </a:solidFill>
            </a:endParaRPr>
          </a:p>
        </p:txBody>
      </p:sp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03869B91-D5F6-963D-05CE-A0D7E15BBF6F}"/>
              </a:ext>
            </a:extLst>
          </p:cNvPr>
          <p:cNvSpPr/>
          <p:nvPr/>
        </p:nvSpPr>
        <p:spPr>
          <a:xfrm>
            <a:off x="9148540" y="4322217"/>
            <a:ext cx="1927955" cy="194243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C82A524D-830C-4DA5-1B31-7123A13F82EE}"/>
              </a:ext>
            </a:extLst>
          </p:cNvPr>
          <p:cNvSpPr/>
          <p:nvPr/>
        </p:nvSpPr>
        <p:spPr>
          <a:xfrm>
            <a:off x="9148540" y="4322216"/>
            <a:ext cx="1927955" cy="194243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68597B3E-369D-0DF2-92B1-FC787184F8D5}"/>
              </a:ext>
            </a:extLst>
          </p:cNvPr>
          <p:cNvGrpSpPr/>
          <p:nvPr/>
        </p:nvGrpSpPr>
        <p:grpSpPr>
          <a:xfrm>
            <a:off x="9148540" y="4322215"/>
            <a:ext cx="1927955" cy="1942432"/>
            <a:chOff x="7922196" y="4416484"/>
            <a:chExt cx="1927955" cy="1942432"/>
          </a:xfrm>
        </p:grpSpPr>
        <p:sp>
          <p:nvSpPr>
            <p:cNvPr id="7" name="フローチャート: 論理和 6">
              <a:extLst>
                <a:ext uri="{FF2B5EF4-FFF2-40B4-BE49-F238E27FC236}">
                  <a16:creationId xmlns:a16="http://schemas.microsoft.com/office/drawing/2014/main" id="{74652388-AE94-B562-EBB2-42C2DF4B5F37}"/>
                </a:ext>
              </a:extLst>
            </p:cNvPr>
            <p:cNvSpPr/>
            <p:nvPr/>
          </p:nvSpPr>
          <p:spPr>
            <a:xfrm>
              <a:off x="7922196" y="4416484"/>
              <a:ext cx="1927955" cy="194243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和接合 9">
              <a:extLst>
                <a:ext uri="{FF2B5EF4-FFF2-40B4-BE49-F238E27FC236}">
                  <a16:creationId xmlns:a16="http://schemas.microsoft.com/office/drawing/2014/main" id="{9B0F4E23-D7C4-4307-DB97-34C39C40F959}"/>
                </a:ext>
              </a:extLst>
            </p:cNvPr>
            <p:cNvSpPr/>
            <p:nvPr/>
          </p:nvSpPr>
          <p:spPr>
            <a:xfrm>
              <a:off x="7922196" y="4416485"/>
              <a:ext cx="1927955" cy="1942431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67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5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8874B5-1BA8-9D57-046E-6ACD70193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D40189-3310-2017-EE4E-6B25D886F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145E669-A877-BAD7-397F-502EEB37D78C}"/>
              </a:ext>
            </a:extLst>
          </p:cNvPr>
          <p:cNvSpPr txBox="1"/>
          <p:nvPr/>
        </p:nvSpPr>
        <p:spPr>
          <a:xfrm>
            <a:off x="8949834" y="2041442"/>
            <a:ext cx="3074459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ja-JP" sz="3200" dirty="0"/>
              <a:t>(</a:t>
            </a:r>
            <a:r>
              <a:rPr lang="ja-JP" altLang="en-US" sz="3200" dirty="0"/>
              <a:t>株</a:t>
            </a:r>
            <a:r>
              <a:rPr lang="en-US" altLang="ja-JP" sz="3200" dirty="0"/>
              <a:t>)</a:t>
            </a:r>
            <a:r>
              <a:rPr lang="ja-JP" altLang="en-US" sz="3200" dirty="0"/>
              <a:t>ヒップの</a:t>
            </a:r>
            <a:endParaRPr lang="en-US" altLang="ja-JP" sz="3200" dirty="0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3200" dirty="0"/>
              <a:t>今の選考状況は</a:t>
            </a:r>
            <a:endParaRPr lang="en-US" altLang="ja-JP" sz="3200" dirty="0"/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3200" dirty="0"/>
              <a:t>どれ？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D11CB8-29ED-3A82-55ED-F9B508A8D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D885C-B189-C3CF-5075-BC5D8F734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C731239-57A4-1B5B-BE77-06AF5807EE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5" b="4785"/>
          <a:stretch/>
        </p:blipFill>
        <p:spPr>
          <a:xfrm>
            <a:off x="700432" y="858525"/>
            <a:ext cx="7297916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5EE4633-E0D0-AABC-4032-12ED56FA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6C24D26-C3A6-B923-7FEA-1F2970C52AB2}"/>
              </a:ext>
            </a:extLst>
          </p:cNvPr>
          <p:cNvSpPr txBox="1"/>
          <p:nvPr/>
        </p:nvSpPr>
        <p:spPr>
          <a:xfrm>
            <a:off x="302084" y="0"/>
            <a:ext cx="67585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レベル：☆☆</a:t>
            </a:r>
            <a:r>
              <a:rPr kumimoji="1" lang="ja-JP" altLang="en-US" sz="5400" dirty="0">
                <a:solidFill>
                  <a:srgbClr val="00B050"/>
                </a:solidFill>
              </a:rPr>
              <a:t>　</a:t>
            </a:r>
            <a:r>
              <a:rPr kumimoji="1" lang="ja-JP" altLang="en-US" sz="5400" dirty="0">
                <a:solidFill>
                  <a:srgbClr val="FF0000"/>
                </a:solidFill>
              </a:rPr>
              <a:t>答え</a:t>
            </a:r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F6634467-DBCE-2F94-9338-70111DB31370}"/>
              </a:ext>
            </a:extLst>
          </p:cNvPr>
          <p:cNvSpPr/>
          <p:nvPr/>
        </p:nvSpPr>
        <p:spPr>
          <a:xfrm>
            <a:off x="501726" y="1660571"/>
            <a:ext cx="4675695" cy="1653259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tx1"/>
                </a:solidFill>
              </a:rPr>
              <a:t>ヒップはこの行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ECB662E-BFB3-3485-BB29-0C4F22AA473B}"/>
              </a:ext>
            </a:extLst>
          </p:cNvPr>
          <p:cNvSpPr txBox="1"/>
          <p:nvPr/>
        </p:nvSpPr>
        <p:spPr>
          <a:xfrm>
            <a:off x="8927675" y="4487319"/>
            <a:ext cx="23284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solidFill>
                  <a:srgbClr val="FF0000"/>
                </a:solidFill>
              </a:rPr>
              <a:t>答え：</a:t>
            </a:r>
            <a:endParaRPr kumimoji="1" lang="en-US" altLang="ja-JP" sz="4800" dirty="0">
              <a:solidFill>
                <a:srgbClr val="FF0000"/>
              </a:solidFill>
            </a:endParaRPr>
          </a:p>
          <a:p>
            <a:r>
              <a:rPr kumimoji="1" lang="en-US" altLang="ja-JP" sz="4800" dirty="0">
                <a:solidFill>
                  <a:srgbClr val="FF0000"/>
                </a:solidFill>
              </a:rPr>
              <a:t>1</a:t>
            </a:r>
            <a:r>
              <a:rPr kumimoji="1" lang="ja-JP" altLang="en-US" sz="4800" dirty="0">
                <a:solidFill>
                  <a:srgbClr val="FF0000"/>
                </a:solidFill>
              </a:rPr>
              <a:t>次面接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C89A349-490F-5B1C-4F41-D47C3C1E52F1}"/>
              </a:ext>
            </a:extLst>
          </p:cNvPr>
          <p:cNvSpPr/>
          <p:nvPr/>
        </p:nvSpPr>
        <p:spPr>
          <a:xfrm>
            <a:off x="567965" y="3790569"/>
            <a:ext cx="7550871" cy="72586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616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96A75-CCAE-415E-EF83-DC2107AA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23399D-8F25-122C-4DC2-D6422CB3DBD9}"/>
              </a:ext>
            </a:extLst>
          </p:cNvPr>
          <p:cNvSpPr txBox="1"/>
          <p:nvPr/>
        </p:nvSpPr>
        <p:spPr>
          <a:xfrm>
            <a:off x="986671" y="2005965"/>
            <a:ext cx="10218657" cy="28460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kumimoji="1" lang="en-US" altLang="ja-JP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(</a:t>
            </a:r>
            <a:r>
              <a:rPr kumimoji="1" lang="ja-JP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株</a:t>
            </a:r>
            <a:r>
              <a:rPr kumimoji="1" lang="en-US" altLang="ja-JP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)</a:t>
            </a:r>
            <a:r>
              <a:rPr kumimoji="1" lang="ja-JP" alt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エイ・クリエイションの</a:t>
            </a:r>
            <a:endParaRPr kumimoji="1" lang="en-US" altLang="ja-JP" sz="6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6000" dirty="0">
                <a:latin typeface="+mj-lt"/>
                <a:ea typeface="+mj-ea"/>
                <a:cs typeface="+mj-cs"/>
              </a:rPr>
              <a:t>備考・反省点記入欄に</a:t>
            </a:r>
            <a:endParaRPr lang="en-US" altLang="ja-JP" sz="6000" dirty="0"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ja-JP" altLang="en-US" sz="6000" dirty="0">
                <a:latin typeface="+mj-lt"/>
                <a:ea typeface="+mj-ea"/>
                <a:cs typeface="+mj-cs"/>
              </a:rPr>
              <a:t>書いてあるのは何？</a:t>
            </a:r>
            <a:endParaRPr lang="en-US" altLang="ja-JP" sz="60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06D840F-C600-0B2F-96DA-C763647D268A}"/>
              </a:ext>
            </a:extLst>
          </p:cNvPr>
          <p:cNvSpPr txBox="1"/>
          <p:nvPr/>
        </p:nvSpPr>
        <p:spPr>
          <a:xfrm>
            <a:off x="302084" y="0"/>
            <a:ext cx="5438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</a:t>
            </a:r>
            <a:r>
              <a:rPr lang="ja-JP" altLang="en-US" sz="5400" u="sng" dirty="0">
                <a:solidFill>
                  <a:srgbClr val="00B050"/>
                </a:solidFill>
              </a:rPr>
              <a:t>☆☆☆</a:t>
            </a:r>
            <a:endParaRPr kumimoji="1" lang="ja-JP" altLang="en-US" sz="5400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292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94F6A-4D50-FD8C-3388-EB9CE3A1A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AA8DBF1A-87BC-A07F-0FB8-EE5177B8D2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6"/>
          <a:stretch>
            <a:fillRect/>
          </a:stretch>
        </p:blipFill>
        <p:spPr>
          <a:xfrm>
            <a:off x="192969" y="894717"/>
            <a:ext cx="11806062" cy="596328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CB925F0-89B7-D74F-A200-2467F1E19FCC}"/>
              </a:ext>
            </a:extLst>
          </p:cNvPr>
          <p:cNvSpPr txBox="1"/>
          <p:nvPr/>
        </p:nvSpPr>
        <p:spPr>
          <a:xfrm>
            <a:off x="302084" y="0"/>
            <a:ext cx="5438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</a:t>
            </a:r>
            <a:r>
              <a:rPr lang="ja-JP" altLang="en-US" sz="5400" u="sng" dirty="0">
                <a:solidFill>
                  <a:srgbClr val="00B050"/>
                </a:solidFill>
              </a:rPr>
              <a:t>☆☆☆</a:t>
            </a:r>
            <a:endParaRPr kumimoji="1" lang="ja-JP" altLang="en-US" sz="5400" u="sng" dirty="0">
              <a:solidFill>
                <a:srgbClr val="00B050"/>
              </a:solidFill>
            </a:endParaRPr>
          </a:p>
        </p:txBody>
      </p:sp>
      <p:sp>
        <p:nvSpPr>
          <p:cNvPr id="6" name="フローチャート: 結合子 5">
            <a:extLst>
              <a:ext uri="{FF2B5EF4-FFF2-40B4-BE49-F238E27FC236}">
                <a16:creationId xmlns:a16="http://schemas.microsoft.com/office/drawing/2014/main" id="{C67F4708-066E-2FAB-D7EE-4C113576C7C7}"/>
              </a:ext>
            </a:extLst>
          </p:cNvPr>
          <p:cNvSpPr/>
          <p:nvPr/>
        </p:nvSpPr>
        <p:spPr>
          <a:xfrm>
            <a:off x="10180192" y="4915569"/>
            <a:ext cx="1927955" cy="1942431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フローチャート: 結合子 13">
            <a:extLst>
              <a:ext uri="{FF2B5EF4-FFF2-40B4-BE49-F238E27FC236}">
                <a16:creationId xmlns:a16="http://schemas.microsoft.com/office/drawing/2014/main" id="{721C03C2-71DD-94AB-1BB8-D536AC789206}"/>
              </a:ext>
            </a:extLst>
          </p:cNvPr>
          <p:cNvSpPr/>
          <p:nvPr/>
        </p:nvSpPr>
        <p:spPr>
          <a:xfrm>
            <a:off x="10180191" y="4915569"/>
            <a:ext cx="1927955" cy="1942431"/>
          </a:xfrm>
          <a:prstGeom prst="flowChartConnector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6EBE274-3A93-28CB-257E-0FD88F3AC704}"/>
              </a:ext>
            </a:extLst>
          </p:cNvPr>
          <p:cNvGrpSpPr/>
          <p:nvPr/>
        </p:nvGrpSpPr>
        <p:grpSpPr>
          <a:xfrm>
            <a:off x="10180192" y="4915567"/>
            <a:ext cx="1927955" cy="1942432"/>
            <a:chOff x="7922196" y="4416484"/>
            <a:chExt cx="1927955" cy="1942432"/>
          </a:xfrm>
        </p:grpSpPr>
        <p:sp>
          <p:nvSpPr>
            <p:cNvPr id="7" name="フローチャート: 論理和 6">
              <a:extLst>
                <a:ext uri="{FF2B5EF4-FFF2-40B4-BE49-F238E27FC236}">
                  <a16:creationId xmlns:a16="http://schemas.microsoft.com/office/drawing/2014/main" id="{122E651F-1CFF-BDE0-196E-80F2B60188F5}"/>
                </a:ext>
              </a:extLst>
            </p:cNvPr>
            <p:cNvSpPr/>
            <p:nvPr/>
          </p:nvSpPr>
          <p:spPr>
            <a:xfrm>
              <a:off x="7922196" y="4416484"/>
              <a:ext cx="1927955" cy="1942431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フローチャート: 和接合 9">
              <a:extLst>
                <a:ext uri="{FF2B5EF4-FFF2-40B4-BE49-F238E27FC236}">
                  <a16:creationId xmlns:a16="http://schemas.microsoft.com/office/drawing/2014/main" id="{E42BE823-8889-5442-EFDC-049E3B02617F}"/>
                </a:ext>
              </a:extLst>
            </p:cNvPr>
            <p:cNvSpPr/>
            <p:nvPr/>
          </p:nvSpPr>
          <p:spPr>
            <a:xfrm>
              <a:off x="7922196" y="4416485"/>
              <a:ext cx="1927955" cy="1942431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9085CA6-7527-1FC7-7C94-72188A0243D7}"/>
              </a:ext>
            </a:extLst>
          </p:cNvPr>
          <p:cNvGrpSpPr/>
          <p:nvPr/>
        </p:nvGrpSpPr>
        <p:grpSpPr>
          <a:xfrm>
            <a:off x="0" y="-2"/>
            <a:ext cx="12192000" cy="6858000"/>
            <a:chOff x="0" y="-2"/>
            <a:chExt cx="12192000" cy="685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E3F28F79-1332-0B9E-79A7-B344E562B245}"/>
                </a:ext>
              </a:extLst>
            </p:cNvPr>
            <p:cNvSpPr/>
            <p:nvPr/>
          </p:nvSpPr>
          <p:spPr>
            <a:xfrm>
              <a:off x="0" y="-2"/>
              <a:ext cx="12192000" cy="685800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E38D57E1-7540-32D2-2268-C4B57A614BA3}"/>
                </a:ext>
              </a:extLst>
            </p:cNvPr>
            <p:cNvSpPr txBox="1"/>
            <p:nvPr/>
          </p:nvSpPr>
          <p:spPr>
            <a:xfrm>
              <a:off x="3169920" y="2552918"/>
              <a:ext cx="5852160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ja-JP" altLang="en-US" sz="8000" dirty="0">
                  <a:solidFill>
                    <a:schemeClr val="bg1"/>
                  </a:solidFill>
                </a:rPr>
                <a:t>終了！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700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5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BC4A4-7425-BB53-2A90-96DEF631E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グラフィカル ユーザー インターフェイス, 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DBA77A25-C9CD-B00C-04B0-CECAFCB935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146"/>
          <a:stretch>
            <a:fillRect/>
          </a:stretch>
        </p:blipFill>
        <p:spPr>
          <a:xfrm>
            <a:off x="192969" y="894717"/>
            <a:ext cx="11806062" cy="5963281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CC0EC87-59E6-DD05-01C9-BD87BE932F9F}"/>
              </a:ext>
            </a:extLst>
          </p:cNvPr>
          <p:cNvSpPr txBox="1"/>
          <p:nvPr/>
        </p:nvSpPr>
        <p:spPr>
          <a:xfrm>
            <a:off x="302083" y="0"/>
            <a:ext cx="77295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400" u="sng" dirty="0">
                <a:solidFill>
                  <a:srgbClr val="00B050"/>
                </a:solidFill>
              </a:rPr>
              <a:t>レベル：</a:t>
            </a:r>
            <a:r>
              <a:rPr lang="ja-JP" altLang="en-US" sz="5400" u="sng" dirty="0">
                <a:solidFill>
                  <a:srgbClr val="00B050"/>
                </a:solidFill>
              </a:rPr>
              <a:t>☆☆☆</a:t>
            </a:r>
            <a:r>
              <a:rPr lang="ja-JP" altLang="en-US" sz="5400" dirty="0">
                <a:solidFill>
                  <a:srgbClr val="FF0000"/>
                </a:solidFill>
              </a:rPr>
              <a:t>　答え</a:t>
            </a:r>
            <a:endParaRPr kumimoji="1" lang="ja-JP" altLang="en-US" sz="5400" dirty="0">
              <a:solidFill>
                <a:srgbClr val="FF0000"/>
              </a:solidFill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D6AB442-AF70-8559-2652-884AEB227EE0}"/>
              </a:ext>
            </a:extLst>
          </p:cNvPr>
          <p:cNvSpPr/>
          <p:nvPr/>
        </p:nvSpPr>
        <p:spPr>
          <a:xfrm>
            <a:off x="192969" y="4270342"/>
            <a:ext cx="11806062" cy="39592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2216984F-ECA1-0E14-53D9-6776CB923F10}"/>
              </a:ext>
            </a:extLst>
          </p:cNvPr>
          <p:cNvSpPr/>
          <p:nvPr/>
        </p:nvSpPr>
        <p:spPr>
          <a:xfrm>
            <a:off x="511153" y="2169724"/>
            <a:ext cx="6379841" cy="1653259"/>
          </a:xfrm>
          <a:prstGeom prst="wedgeRoundRectCallout">
            <a:avLst/>
          </a:prstGeom>
          <a:solidFill>
            <a:schemeClr val="bg1">
              <a:lumMod val="95000"/>
            </a:schemeClr>
          </a:solidFill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 dirty="0">
                <a:solidFill>
                  <a:schemeClr val="tx1"/>
                </a:solidFill>
              </a:rPr>
              <a:t>該当するのは</a:t>
            </a:r>
            <a:endParaRPr kumimoji="1" lang="en-US" altLang="ja-JP" sz="48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4800" dirty="0">
                <a:solidFill>
                  <a:schemeClr val="tx1"/>
                </a:solidFill>
              </a:rPr>
              <a:t>この行</a:t>
            </a:r>
          </a:p>
        </p:txBody>
      </p:sp>
    </p:spTree>
    <p:extLst>
      <p:ext uri="{BB962C8B-B14F-4D97-AF65-F5344CB8AC3E}">
        <p14:creationId xmlns:p14="http://schemas.microsoft.com/office/powerpoint/2010/main" val="2741139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F8EF50D0-D29A-02C7-B7B5-0A6130FCA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416115"/>
          </a:xfrm>
          <a:prstGeom prst="rect">
            <a:avLst/>
          </a:prstGeom>
        </p:spPr>
      </p:pic>
      <p:sp>
        <p:nvSpPr>
          <p:cNvPr id="7" name="矢印: 上 6">
            <a:extLst>
              <a:ext uri="{FF2B5EF4-FFF2-40B4-BE49-F238E27FC236}">
                <a16:creationId xmlns:a16="http://schemas.microsoft.com/office/drawing/2014/main" id="{130BB27E-092F-91E3-6467-D47E596F02CF}"/>
              </a:ext>
            </a:extLst>
          </p:cNvPr>
          <p:cNvSpPr/>
          <p:nvPr/>
        </p:nvSpPr>
        <p:spPr>
          <a:xfrm>
            <a:off x="556181" y="4416115"/>
            <a:ext cx="1677971" cy="1268249"/>
          </a:xfrm>
          <a:prstGeom prst="upArrow">
            <a:avLst/>
          </a:prstGeom>
          <a:noFill/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ここ</a:t>
            </a:r>
          </a:p>
        </p:txBody>
      </p:sp>
      <p:sp>
        <p:nvSpPr>
          <p:cNvPr id="8" name="矢印: 上 7">
            <a:extLst>
              <a:ext uri="{FF2B5EF4-FFF2-40B4-BE49-F238E27FC236}">
                <a16:creationId xmlns:a16="http://schemas.microsoft.com/office/drawing/2014/main" id="{9727DFE0-38A7-EB46-8E20-23AE0C581764}"/>
              </a:ext>
            </a:extLst>
          </p:cNvPr>
          <p:cNvSpPr/>
          <p:nvPr/>
        </p:nvSpPr>
        <p:spPr>
          <a:xfrm>
            <a:off x="9437801" y="4416116"/>
            <a:ext cx="1677971" cy="1268248"/>
          </a:xfrm>
          <a:prstGeom prst="upArrow">
            <a:avLst/>
          </a:prstGeom>
          <a:noFill/>
          <a:ln w="762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3200" dirty="0">
                <a:solidFill>
                  <a:schemeClr val="tx1"/>
                </a:solidFill>
              </a:rPr>
              <a:t>ここ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91F2E7A-F223-1F7C-A929-EFCF071778B6}"/>
              </a:ext>
            </a:extLst>
          </p:cNvPr>
          <p:cNvSpPr txBox="1"/>
          <p:nvPr/>
        </p:nvSpPr>
        <p:spPr>
          <a:xfrm>
            <a:off x="2441542" y="5022644"/>
            <a:ext cx="678886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000" dirty="0"/>
              <a:t>ちゃんと行別（企業別）で</a:t>
            </a:r>
            <a:endParaRPr kumimoji="1" lang="en-US" altLang="ja-JP" sz="4000" dirty="0"/>
          </a:p>
          <a:p>
            <a:pPr algn="ctr"/>
            <a:r>
              <a:rPr lang="ja-JP" altLang="en-US" sz="4000" dirty="0"/>
              <a:t>パッと見れますか？</a:t>
            </a:r>
            <a:endParaRPr kumimoji="1" lang="en-US" altLang="ja-JP" sz="4000" dirty="0"/>
          </a:p>
        </p:txBody>
      </p:sp>
    </p:spTree>
    <p:extLst>
      <p:ext uri="{BB962C8B-B14F-4D97-AF65-F5344CB8AC3E}">
        <p14:creationId xmlns:p14="http://schemas.microsoft.com/office/powerpoint/2010/main" val="1299943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C445A2-F4B6-8BE9-D608-42F4A1303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ja-JP" altLang="en-US" dirty="0"/>
              <a:t>そこで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6CD1DA1-7D42-E307-465D-9C4AC388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032" y="1343818"/>
            <a:ext cx="5883111" cy="21996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4000" dirty="0"/>
              <a:t>今回就活生に向けて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まとめやすく、</a:t>
            </a:r>
            <a:endParaRPr lang="en-US" altLang="ja-JP" sz="4000" dirty="0"/>
          </a:p>
          <a:p>
            <a:pPr marL="0" indent="0">
              <a:buNone/>
            </a:pPr>
            <a:r>
              <a:rPr lang="ja-JP" altLang="en-US" sz="4000" dirty="0"/>
              <a:t>また見やすくしたアプリ</a:t>
            </a:r>
            <a:endParaRPr lang="en-US" altLang="ja-JP" sz="4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6E49A8-DDD9-5E19-ED89-1A29CD43AA4F}"/>
              </a:ext>
            </a:extLst>
          </p:cNvPr>
          <p:cNvSpPr txBox="1"/>
          <p:nvPr/>
        </p:nvSpPr>
        <p:spPr>
          <a:xfrm>
            <a:off x="724543" y="3784676"/>
            <a:ext cx="46564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dirty="0"/>
              <a:t>就活メモ</a:t>
            </a:r>
          </a:p>
        </p:txBody>
      </p:sp>
      <p:pic>
        <p:nvPicPr>
          <p:cNvPr id="6" name="図 5" descr="挿絵, 記号 が含まれている画像">
            <a:extLst>
              <a:ext uri="{FF2B5EF4-FFF2-40B4-BE49-F238E27FC236}">
                <a16:creationId xmlns:a16="http://schemas.microsoft.com/office/drawing/2014/main" id="{52B549E8-0525-AE01-41E5-7778382E11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7336" y="1631497"/>
            <a:ext cx="4656464" cy="465646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7706137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DB961CF66848D4AB4A1C7D5A07FFE0D" ma:contentTypeVersion="11" ma:contentTypeDescription="新しいドキュメントを作成します。" ma:contentTypeScope="" ma:versionID="1af7698bdc28c85334a4dd70b98d8778">
  <xsd:schema xmlns:xsd="http://www.w3.org/2001/XMLSchema" xmlns:xs="http://www.w3.org/2001/XMLSchema" xmlns:p="http://schemas.microsoft.com/office/2006/metadata/properties" xmlns:ns3="d9da7bd8-af51-43f2-9535-1e5448c4b97e" targetNamespace="http://schemas.microsoft.com/office/2006/metadata/properties" ma:root="true" ma:fieldsID="e8c1b4e60a47d1d0591cc9a0be4cabaf" ns3:_="">
    <xsd:import namespace="d9da7bd8-af51-43f2-9535-1e5448c4b97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a7bd8-af51-43f2-9535-1e5448c4b97e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9da7bd8-af51-43f2-9535-1e5448c4b97e" xsi:nil="true"/>
  </documentManagement>
</p:properties>
</file>

<file path=customXml/itemProps1.xml><?xml version="1.0" encoding="utf-8"?>
<ds:datastoreItem xmlns:ds="http://schemas.openxmlformats.org/officeDocument/2006/customXml" ds:itemID="{E4A85C8C-A14A-4151-8C59-D931D055A15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62C8A1-0E3C-450A-A753-C5062DB84C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a7bd8-af51-43f2-9535-1e5448c4b9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B5919A-AE5F-4B83-863C-FCAEF4C2B7DE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d9da7bd8-af51-43f2-9535-1e5448c4b97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</TotalTime>
  <Words>330</Words>
  <Application>Microsoft Office PowerPoint</Application>
  <PresentationFormat>ワイド画面</PresentationFormat>
  <Paragraphs>71</Paragraphs>
  <Slides>18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18</vt:i4>
      </vt:variant>
    </vt:vector>
  </HeadingPairs>
  <TitlesOfParts>
    <vt:vector size="23" baseType="lpstr">
      <vt:lpstr>HGP創英角ｺﾞｼｯｸUB</vt:lpstr>
      <vt:lpstr>HG創英角ﾎﾟｯﾌﾟ体</vt:lpstr>
      <vt:lpstr>Arial</vt:lpstr>
      <vt:lpstr>Gill Sans MT</vt:lpstr>
      <vt:lpstr>Office テーマ</vt:lpstr>
      <vt:lpstr>本当は去年の12月頃の おれが一番欲しかった 就活メモアプリ</vt:lpstr>
      <vt:lpstr>はじめに</vt:lpstr>
      <vt:lpstr>私はなんと・・・！</vt:lpstr>
      <vt:lpstr>PowerPoint プレゼンテーション</vt:lpstr>
      <vt:lpstr>PowerPoint プレゼンテーション</vt:lpstr>
      <vt:lpstr>まとめてて気付いたこと①</vt:lpstr>
      <vt:lpstr>PowerPoint プレゼンテーション</vt:lpstr>
      <vt:lpstr>まとめてて気付いたこと②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そこで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石川 璃空(zeal23418168)</dc:creator>
  <cp:lastModifiedBy>石川 璃空(zeal23418168)</cp:lastModifiedBy>
  <cp:revision>2</cp:revision>
  <dcterms:created xsi:type="dcterms:W3CDTF">2026-01-21T05:51:36Z</dcterms:created>
  <dcterms:modified xsi:type="dcterms:W3CDTF">2026-01-29T08:32:40Z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0x010100EDB961CF66848D4AB4A1C7D5A07FFE0D</vt:lpwstr>
  </property>
</Properties>
</file>